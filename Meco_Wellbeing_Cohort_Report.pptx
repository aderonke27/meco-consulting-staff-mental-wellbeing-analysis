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6.xml" ContentType="application/vnd.openxmlformats-officedocument.presentationml.notesSlide+xml"/>
  <Override PartName="/ppt/charts/chart10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93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3393D"/>
                </a:solidFill>
                <a:latin typeface="Arial"/>
              </a:rPr>
              <a:t>Gender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80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11-434E-B3C1-710F75BE9596}"/>
              </c:ext>
            </c:extLst>
          </c:dPt>
          <c:dPt>
            <c:idx val="1"/>
            <c:bubble3D val="0"/>
            <c:spPr>
              <a:solidFill>
                <a:srgbClr val="69A29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11-434E-B3C1-710F75BE9596}"/>
              </c:ext>
            </c:extLst>
          </c:dPt>
          <c:dPt>
            <c:idx val="2"/>
            <c:bubble3D val="0"/>
            <c:spPr>
              <a:solidFill>
                <a:srgbClr val="D9C4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11-434E-B3C1-710F75BE9596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11-434E-B3C1-710F75BE9596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11-434E-B3C1-710F75BE9596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F11-434E-B3C1-710F75BE959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Prefer not to 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11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F11-434E-B3C1-710F75BE95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3393D"/>
              </a:solidFill>
            </a:defRPr>
          </a:pPr>
          <a:endParaRPr lang="en-NG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93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3393D"/>
                </a:solidFill>
                <a:latin typeface="Arial"/>
              </a:rPr>
              <a:t>Job Level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393D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Junior</c:v>
                </c:pt>
                <c:pt idx="1">
                  <c:v>Mid-level</c:v>
                </c:pt>
                <c:pt idx="2">
                  <c:v>Senior</c:v>
                </c:pt>
                <c:pt idx="3">
                  <c:v>Manager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8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55-4108-A3BD-89D91E8494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393D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393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3393D"/>
                </a:solidFill>
                <a:latin typeface="Arial"/>
              </a:rPr>
              <a:t>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69A29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393D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Technology</c:v>
                </c:pt>
                <c:pt idx="1">
                  <c:v>Finance</c:v>
                </c:pt>
                <c:pt idx="2">
                  <c:v>Strategy</c:v>
                </c:pt>
                <c:pt idx="3">
                  <c:v>HR</c:v>
                </c:pt>
                <c:pt idx="4">
                  <c:v>Operations</c:v>
                </c:pt>
                <c:pt idx="5">
                  <c:v>Client Services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24-4336-97F3-AEE28EFE0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393D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Pre-programme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393D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Depression</c:v>
                </c:pt>
                <c:pt idx="1">
                  <c:v>Anxiety</c:v>
                </c:pt>
                <c:pt idx="2">
                  <c:v>Stress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</c:v>
                </c:pt>
                <c:pt idx="1">
                  <c:v>20.7</c:v>
                </c:pt>
                <c:pt idx="2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DA-4C66-A2B1-0761AD2D8D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Post-programme</c:v>
                </c:pt>
              </c:strCache>
            </c:strRef>
          </c:tx>
          <c:spPr>
            <a:solidFill>
              <a:srgbClr val="84B59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393D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Depression</c:v>
                </c:pt>
                <c:pt idx="1">
                  <c:v>Anxiety</c:v>
                </c:pt>
                <c:pt idx="2">
                  <c:v>Stress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6.1</c:v>
                </c:pt>
                <c:pt idx="1">
                  <c:v>10.6</c:v>
                </c:pt>
                <c:pt idx="2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DA-4C66-A2B1-0761AD2D8D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E8A8C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E8A8C"/>
                    </a:solidFill>
                    <a:latin typeface="Arial"/>
                  </a:rPr>
                  <a:t>Average score (0-42 scale)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3393D"/>
              </a:solidFill>
            </a:defRPr>
          </a:pPr>
          <a:endParaRPr lang="en-NG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WHO-5 (%)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Pre-programme</c:v>
                </c:pt>
                <c:pt idx="1">
                  <c:v>Post-programme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4F-4844-90F2-BBA16AF1729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3393D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8FB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FB-453B-8592-8C4289EC92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Mild</c:v>
                </c:pt>
              </c:strCache>
            </c:strRef>
          </c:tx>
          <c:spPr>
            <a:solidFill>
              <a:srgbClr val="D9C4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46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FB-453B-8592-8C4289EC92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D98E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FB-453B-8592-8C4289EC922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93D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23393D"/>
              </a:solidFill>
            </a:defRPr>
          </a:pPr>
          <a:endParaRPr lang="en-NG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8FB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47-420B-B893-68CA3C154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Mild</c:v>
                </c:pt>
              </c:strCache>
            </c:strRef>
          </c:tx>
          <c:spPr>
            <a:solidFill>
              <a:srgbClr val="D9C4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47-420B-B893-68CA3C154E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D98E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11</c:v>
                </c:pt>
                <c:pt idx="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47-420B-B893-68CA3C154E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Severe</c:v>
                </c:pt>
              </c:strCache>
            </c:strRef>
          </c:tx>
          <c:spPr>
            <a:solidFill>
              <a:srgbClr val="C15B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18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947-420B-B893-68CA3C154E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Ext. Severe</c:v>
                </c:pt>
              </c:strCache>
            </c:strRef>
          </c:tx>
          <c:spPr>
            <a:solidFill>
              <a:srgbClr val="8B2E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68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947-420B-B893-68CA3C154EF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93D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23393D"/>
              </a:solidFill>
            </a:defRPr>
          </a:pPr>
          <a:endParaRPr lang="en-NG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8FB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2C-43F8-896E-8F436A21CC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Mild</c:v>
                </c:pt>
              </c:strCache>
            </c:strRef>
          </c:tx>
          <c:spPr>
            <a:solidFill>
              <a:srgbClr val="D9C46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2C-43F8-896E-8F436A21CC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D98E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2C-43F8-896E-8F436A21CC0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Severe</c:v>
                </c:pt>
              </c:strCache>
            </c:strRef>
          </c:tx>
          <c:spPr>
            <a:solidFill>
              <a:srgbClr val="C15B3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11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02C-43F8-896E-8F436A21CC0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93D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23393D"/>
              </a:solidFill>
            </a:defRPr>
          </a:pPr>
          <a:endParaRPr lang="en-NG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8FBF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C1-420C-AF8F-2D4A913D12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D98E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71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C1-420C-AF8F-2D4A913D12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8B2E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NG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</c:v>
                </c:pt>
                <c:pt idx="1">
                  <c:v>Post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C1-420C-AF8F-2D4A913D12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393D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23393D"/>
              </a:solidFill>
            </a:defRPr>
          </a:pPr>
          <a:endParaRPr lang="en-NG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WHO-5 change (pts)</c:v>
                </c:pt>
              </c:strCache>
            </c:strRef>
          </c:tx>
          <c:spPr>
            <a:solidFill>
              <a:srgbClr val="5080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393D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Junior (n=15)</c:v>
                </c:pt>
                <c:pt idx="1">
                  <c:v>Mid-level (n=8)</c:v>
                </c:pt>
                <c:pt idx="2">
                  <c:v>Senior (n=3)</c:v>
                </c:pt>
                <c:pt idx="3">
                  <c:v>Manager (n=2)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19.7</c:v>
                </c:pt>
                <c:pt idx="1">
                  <c:v>8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5B-4E3D-9B75-96039ACA43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393D"/>
                </a:solidFill>
                <a:latin typeface="Arial"/>
              </a:defRPr>
            </a:pPr>
            <a:endParaRPr lang="en-N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34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5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6-Week Wellbeing Programme: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Cohort-Level Impact Report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vs Post-Programme Analysis Across All Participants  |  DASS-21 &amp; WHO-5 Wellbeing Index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0058400" cy="1005840"/>
          </a:xfrm>
          <a:prstGeom prst="roundRect">
            <a:avLst>
              <a:gd name="adj" fmla="val 7273"/>
            </a:avLst>
          </a:prstGeom>
          <a:solidFill>
            <a:srgbClr val="3E697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93192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HR &amp; People Team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pre_survey.csv (n=30) and post_survey.csv (n=28), matched cohort of 28 participants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the cohort, and how missing records were handled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4F7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PRE-PROGRAMME RESPONSES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6479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4F7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POST-PROGRAMME RESPONSES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706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4F7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COHORT (used for analysis)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4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7823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AF3F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60527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participants (6.7%) did not complete the post-survey. We excluded them from all before/after comparisons; the paired analysis uses only the 28 participants with both records.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3716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BREAKDOWN (matched cohort, n=28)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480560" y="1691640"/>
          <a:ext cx="3291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"/>
          <p:cNvGraphicFramePr/>
          <p:nvPr/>
        </p:nvGraphicFramePr>
        <p:xfrm>
          <a:off x="7955280" y="169164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Chart 2"/>
          <p:cNvGraphicFramePr/>
          <p:nvPr/>
        </p:nvGraphicFramePr>
        <p:xfrm>
          <a:off x="4480560" y="4160520"/>
          <a:ext cx="71323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 1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DASS-21 Scores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subscale scores across all 28 matched participants (higher = worse)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41732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5270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</a:t>
            </a:r>
            <a:r>
              <a:rPr lang="en-US" sz="12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(Mild)
</a:t>
            </a:r>
            <a:r>
              <a:rPr lang="en-US" sz="12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</a:t>
            </a:r>
            <a:r>
              <a:rPr lang="en-US" sz="12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(Normal)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−51% average score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26680" y="301752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/>
        </p:spPr>
      </p:sp>
      <p:sp>
        <p:nvSpPr>
          <p:cNvPr id="10" name="Text 7"/>
          <p:cNvSpPr/>
          <p:nvPr/>
        </p:nvSpPr>
        <p:spPr>
          <a:xfrm>
            <a:off x="7909560" y="3127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Anxiety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60" y="3474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</a:t>
            </a:r>
            <a:r>
              <a:rPr lang="en-US" sz="12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 (Ext. Severe)
</a:t>
            </a:r>
            <a:r>
              <a:rPr lang="en-US" sz="12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</a:t>
            </a:r>
            <a:r>
              <a:rPr lang="en-US" sz="12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 (Moderate)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956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−49% average score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26680" y="461772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47274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09560" y="5074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</a:t>
            </a:r>
            <a:r>
              <a:rPr lang="en-US" sz="12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 (Mild)
</a:t>
            </a:r>
            <a:r>
              <a:rPr lang="en-US" sz="12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</a:t>
            </a:r>
            <a:r>
              <a:rPr lang="en-US" sz="12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(Normal)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9560" y="5715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−41% average score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WHO-5 Wellbeing Index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overall wellbeing across all 28 matched participants (higher = better)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46304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4F7F5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6459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08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 points, on average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78040" y="22402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moved from a Moderate average level of wellbeing to a High one, a 21% relative increase.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49440" y="3520440"/>
            <a:ext cx="4663440" cy="2240280"/>
          </a:xfrm>
          <a:prstGeom prst="roundRect">
            <a:avLst>
              <a:gd name="adj" fmla="val 3265"/>
            </a:avLst>
          </a:prstGeom>
          <a:solidFill>
            <a:srgbClr val="EAF3F1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3657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participants in the High-wellbeing band: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4023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  →  75%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178040" y="4709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3 in 4 participants ended the programme reporting high wellbeing, up from just 1 in 5 at the start.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Distributions: Before vs After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cohort (n=28) in each severity / wellbeing band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45920"/>
          <a:ext cx="2697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2918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3291840" y="1645920"/>
          <a:ext cx="2697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612648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2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6126480" y="1645920"/>
          <a:ext cx="2697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89611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WHO-5 Wellbeing</a:t>
            </a:r>
            <a:endParaRPr lang="en-US" sz="1200" dirty="0"/>
          </a:p>
        </p:txBody>
      </p:sp>
      <p:graphicFrame>
        <p:nvGraphicFramePr>
          <p:cNvPr id="11" name="Chart 3"/>
          <p:cNvGraphicFramePr/>
          <p:nvPr/>
        </p:nvGraphicFramePr>
        <p:xfrm>
          <a:off x="8961120" y="1645920"/>
          <a:ext cx="2697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 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dimensions moved most, and where the pattern breaks 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309360" cy="1207008"/>
          </a:xfrm>
          <a:prstGeom prst="roundRect">
            <a:avLst>
              <a:gd name="adj" fmla="val 6061"/>
            </a:avLst>
          </a:prstGeom>
          <a:solidFill>
            <a:srgbClr val="F4F7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Anxiety improved most in absolute terms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fell by 10.1 points on average, the largest raw drop. That tracks, since it was also the cohort's biggest problem going in (68% started Extremely Severe).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6309360" cy="1207008"/>
          </a:xfrm>
          <a:prstGeom prst="roundRect">
            <a:avLst>
              <a:gd name="adj" fmla="val 6061"/>
            </a:avLst>
          </a:prstGeom>
          <a:solidFill>
            <a:srgbClr val="F4F7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614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Depression improved most in relative terms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51% average reduction, the largest percentage change of the four measures. 79% of participants ended in the Normal range.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6309360" cy="1207008"/>
          </a:xfrm>
          <a:prstGeom prst="roundRect">
            <a:avLst>
              <a:gd name="adj" fmla="val 6061"/>
            </a:avLst>
          </a:prstGeom>
          <a:solidFill>
            <a:srgbClr val="F4F7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599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moved the least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407408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the mildest issue pre-programme, so there was proportionally less room to improve, though still a meaningful 41% average reduction.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266944"/>
            <a:ext cx="6309360" cy="1207008"/>
          </a:xfrm>
          <a:prstGeom prst="roundRect">
            <a:avLst>
              <a:gd name="adj" fmla="val 6061"/>
            </a:avLst>
          </a:prstGeom>
          <a:solidFill>
            <a:srgbClr val="F4F7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3583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28 participants (7%) did not improve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5705856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saw scores worsen or stay flat across most measures. General programming didn't work for everyone, and this group likely needs direct, individual follow-up.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0" y="1371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WHO-5 IMPROVEMENT BY JOB LEVEL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040880" y="1691640"/>
          <a:ext cx="45720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7040880" y="4206240"/>
            <a:ext cx="4572000" cy="1920240"/>
          </a:xfrm>
          <a:prstGeom prst="roundRect">
            <a:avLst>
              <a:gd name="adj" fmla="val 3810"/>
            </a:avLst>
          </a:prstGeom>
          <a:solidFill>
            <a:srgbClr val="EAF3F1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43434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staff (54% of the cohort) improved the most on every measure. Senior and Manager-level staff barely moved, though those groups are very small (n=3, n=2), so this is a pattern to watch, not a firm conclusion.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23760" y="5257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department: Technology showed the strongest all-round improvement; Finance had solid anxiety/stress gains but the smallest depression improvement.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35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says about the programme's effectiveness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shows a clear, positive association with improved mental health and wellbeing across the cohort. Every measure moved in the right direction, on average.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880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the area of greatest concern pre-programme (68% Extremely Severe), saw the largest improvement, suggesting the workshops and peer-support sessions were especially effective for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9319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was not uniform. Junior staff benefited most; senior and manager-level staff showed little measurable change, hinting that a single programme format may not serve every level equally.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9834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minority (2 of 28) did not improve. The programme worked for most, but not all; general group programming has limits.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can't tell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361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sample, smaller subgroups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matched participants overall; demographic subgroups are much smaller (Manager n=2, Senior n=3). Patterns by job level or department are indicative, not statistically robust.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5361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control group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0" y="190195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fully separate the programme's effect from natural fluctuation, seasonal mood changes, or unrelated events in participants' lives during the same 6 weeks.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2278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Self-report bias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17320" y="359359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DASS-21 and WHO-5 are self-report tools. Participants may round toward improvement post-programme, consciously or not, especially knowing it's being evaluated.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3291840"/>
            <a:ext cx="502920" cy="50292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2278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Non-response gap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32320" y="359359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30 original participants (6.7%) didn't complete the post-survey. If their experience differed systematically from the rest, results could be skewed.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983480"/>
            <a:ext cx="502920" cy="50292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9194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3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follow-up point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17320" y="5285232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have a snapshot at 6 weeks. We don't yet know whether these gains, particularly the anxiety improvement, hold over time.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35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suggest to Meco Consulting's HR &amp; People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556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and expand the programme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0756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 moved in the right direction across the cohort. The overall signal is clearly positive.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Rethink the format for senior staff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9718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staff improved the most; senior and manager levels barely moved. Consider tailored sessions addressing leadership-specific stressors rather than one format for everyone.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5478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individually with non-responders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679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the 2 participants who didn't complete the post-survey and the 2 who showed no improvement. Both groups may need direct support the group format didn't reach.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44398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Re-assess at 3 and 6 months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7640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gains hold over time, especially for anxiety, which remains in the Moderate band on average even after the programme.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67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3400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worked in Technology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566013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department had the strongest all-round improvement. Understanding why could help replicate the effect in departments with smaller gains, like Finance.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Meco Consulting Wellbeing Programme, Cohort Report (n=28)  |  YHPT Data Analytics Track, Week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1219</Words>
  <Application>Microsoft Office PowerPoint</Application>
  <PresentationFormat>Widescreen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Shefiat Ololade Ajayi</dc:creator>
  <cp:lastModifiedBy>Shefiat Ololade Ajayi</cp:lastModifiedBy>
  <cp:revision>3</cp:revision>
  <dcterms:created xsi:type="dcterms:W3CDTF">2026-09-04T18:53:04Z</dcterms:created>
  <dcterms:modified xsi:type="dcterms:W3CDTF">2026-09-04T19:03:12Z</dcterms:modified>
</cp:coreProperties>
</file>