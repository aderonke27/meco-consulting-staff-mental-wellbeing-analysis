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883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C8077"/>
                </a:solidFill>
                <a:latin typeface="Aptos"/>
              </a:rPr>
              <a:t>MENTAL HEALTH &amp; WELLBEING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C2E48"/>
                </a:solidFill>
                <a:latin typeface="Aptos"/>
              </a:rPr>
              <a:t>Progress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3741"/>
                </a:solidFill>
                <a:latin typeface="Aptos"/>
              </a:rPr>
              <a:t>Participant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8211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9737D"/>
                </a:solidFill>
                <a:latin typeface="Aptos"/>
              </a:rPr>
              <a:t>Pre-Programme vs Post-Programme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862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3741"/>
                </a:solidFill>
                <a:latin typeface="Aptos"/>
              </a:rPr>
              <a:t>Six-week Mental Health &amp; Wellbeing Programme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C2E48"/>
                </a:solidFill>
                <a:latin typeface="Aptos"/>
              </a:rPr>
              <a:t>Participant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9737D"/>
                </a:solidFill>
                <a:latin typeface="Aptos"/>
              </a:rPr>
              <a:t>Relevant demographic and work-related information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383280" cy="1417320"/>
          </a:xfrm>
          <a:prstGeom prst="roundRect">
            <a:avLst/>
          </a:prstGeom>
          <a:solidFill>
            <a:srgbClr val="F4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69737D"/>
                </a:solidFill>
                <a:latin typeface="Aptos"/>
              </a:rPr>
              <a:t>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7568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C2E48"/>
                </a:solidFill>
                <a:latin typeface="Aptos"/>
              </a:rP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383280" cy="1417320"/>
          </a:xfrm>
          <a:prstGeom prst="roundRect">
            <a:avLst/>
          </a:prstGeom>
          <a:solidFill>
            <a:srgbClr val="F4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63440" y="16459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69737D"/>
                </a:solidFill>
                <a:latin typeface="Aptos"/>
              </a:rPr>
              <a:t>Gender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07568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C2E48"/>
                </a:solidFill>
                <a:latin typeface="Aptos"/>
              </a:rPr>
              <a:t>Female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417320"/>
            <a:ext cx="3383280" cy="1417320"/>
          </a:xfrm>
          <a:prstGeom prst="roundRect">
            <a:avLst/>
          </a:prstGeom>
          <a:solidFill>
            <a:srgbClr val="F4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58200" y="16459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69737D"/>
                </a:solidFill>
                <a:latin typeface="Aptos"/>
              </a:rPr>
              <a:t>Department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07568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C2E48"/>
                </a:solidFill>
                <a:latin typeface="Aptos"/>
              </a:rPr>
              <a:t>Technology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91839"/>
            <a:ext cx="3383280" cy="1417320"/>
          </a:xfrm>
          <a:prstGeom prst="roundRect">
            <a:avLst/>
          </a:prstGeom>
          <a:solidFill>
            <a:srgbClr val="F4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52043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69737D"/>
                </a:solidFill>
                <a:latin typeface="Aptos"/>
              </a:rPr>
              <a:t>Job Level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950207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C2E48"/>
                </a:solidFill>
                <a:latin typeface="Aptos"/>
              </a:rPr>
              <a:t>Junior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291839"/>
            <a:ext cx="3383280" cy="1417320"/>
          </a:xfrm>
          <a:prstGeom prst="roundRect">
            <a:avLst/>
          </a:prstGeom>
          <a:solidFill>
            <a:srgbClr val="F4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63440" y="352043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69737D"/>
                </a:solidFill>
                <a:latin typeface="Aptos"/>
              </a:rPr>
              <a:t>Employment 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950207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C2E48"/>
                </a:solidFill>
                <a:latin typeface="Aptos"/>
              </a:rPr>
              <a:t>Full-time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291839"/>
            <a:ext cx="3383280" cy="1417320"/>
          </a:xfrm>
          <a:prstGeom prst="roundRect">
            <a:avLst/>
          </a:prstGeom>
          <a:solidFill>
            <a:srgbClr val="F4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58200" y="352043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69737D"/>
                </a:solidFill>
                <a:latin typeface="Aptos"/>
              </a:rPr>
              <a:t>Experience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950207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C2E48"/>
                </a:solidFill>
                <a:latin typeface="Aptos"/>
              </a:rPr>
              <a:t>3 years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465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9737D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C2E48"/>
                </a:solidFill>
                <a:latin typeface="Aptos"/>
              </a:rPr>
              <a:t>Assessment &amp; Data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9737D"/>
                </a:solidFill>
                <a:latin typeface="Aptos"/>
              </a:rPr>
              <a:t>How the pre- and post-programme responses were analysed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212080" cy="3566160"/>
          </a:xfrm>
          <a:prstGeom prst="roundRect">
            <a:avLst/>
          </a:prstGeom>
          <a:solidFill>
            <a:srgbClr val="F4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E48"/>
                </a:solidFill>
                <a:latin typeface="Aptos"/>
              </a:rPr>
              <a:t>DASS-21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317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741"/>
                </a:solidFill>
                <a:latin typeface="Aptos"/>
              </a:rPr>
              <a:t>21 items measuring: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97480"/>
            <a:ext cx="4389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D3741"/>
                </a:solidFill>
                <a:latin typeface="Aptos"/>
              </a:rPr>
              <a:t>• Depression
• Anxiety
• Stress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06908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8077"/>
                </a:solidFill>
                <a:latin typeface="Aptos"/>
              </a:rPr>
              <a:t>Response values: Never = 0 • Sometimes = 1 • Often = 2 • Almost Always =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257800" cy="3566160"/>
          </a:xfrm>
          <a:prstGeom prst="roundRect">
            <a:avLst/>
          </a:prstGeom>
          <a:solidFill>
            <a:srgbClr val="F4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E48"/>
                </a:solidFill>
                <a:latin typeface="Aptos"/>
              </a:rPr>
              <a:t>WHO-5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317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741"/>
                </a:solidFill>
                <a:latin typeface="Aptos"/>
              </a:rPr>
              <a:t>5 items measuring current wellbeing on a 0–100 scale.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1546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C8077"/>
                </a:solidFill>
                <a:latin typeface="Aptos"/>
              </a:rPr>
              <a:t>Higher WHO-5 = better wellbeing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7033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2E48"/>
                </a:solidFill>
                <a:latin typeface="Aptos"/>
              </a:rPr>
              <a:t>Missing post-surveys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069080"/>
            <a:ext cx="4434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1"/>
                </a:solidFill>
                <a:latin typeface="Aptos"/>
              </a:rPr>
              <a:t>The 2 participants without a post response are excluded from paired pre–post change calculations. Missing responses are not imputed.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492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08B58"/>
                </a:solidFill>
                <a:latin typeface="Aptos"/>
              </a:rPr>
              <a:t>Participant A has both pre and post responses, so a complete paired comparison is possible.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465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9737D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C2E48"/>
                </a:solidFill>
                <a:latin typeface="Aptos"/>
              </a:rPr>
              <a:t>DASS-21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9737D"/>
                </a:solidFill>
                <a:latin typeface="Aptos"/>
              </a:rPr>
              <a:t>Standard doubled subscale scores: lower scores indicate better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69737D"/>
                </a:solidFill>
                <a:latin typeface="Aptos"/>
              </a:rPr>
              <a:t>Dimension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417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69737D"/>
                </a:solidFill>
                <a:latin typeface="Aptos"/>
              </a:rPr>
              <a:t>Pre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417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69737D"/>
                </a:solidFill>
                <a:latin typeface="Aptos"/>
              </a:rPr>
              <a:t>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417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69737D"/>
                </a:solidFill>
                <a:latin typeface="Aptos"/>
              </a:rPr>
              <a:t>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4173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69737D"/>
                </a:solidFill>
                <a:latin typeface="Aptos"/>
              </a:rPr>
              <a:t>Interpretation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19656"/>
            <a:ext cx="10835640" cy="658368"/>
          </a:xfrm>
          <a:prstGeom prst="rect">
            <a:avLst/>
          </a:prstGeom>
          <a:solidFill>
            <a:srgbClr val="F4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2E48"/>
                </a:solidFill>
                <a:latin typeface="Aptos"/>
              </a:rPr>
              <a:t>Depression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9659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3741"/>
                </a:solidFill>
                <a:latin typeface="Aptos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9659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3741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9659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08B58"/>
                </a:solidFill>
                <a:latin typeface="Aptos"/>
              </a:rPr>
              <a:t>−12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96596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741"/>
                </a:solidFill>
                <a:latin typeface="Aptos"/>
              </a:rPr>
              <a:t>Moderate → Normal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926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2E48"/>
                </a:solidFill>
                <a:latin typeface="Aptos"/>
              </a:rPr>
              <a:t>Anxiety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9260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3741"/>
                </a:solidFill>
                <a:latin typeface="Aptos"/>
              </a:rPr>
              <a:t>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9260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3741"/>
                </a:solidFill>
                <a:latin typeface="Aptos"/>
              </a:rPr>
              <a:t>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9260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08B58"/>
                </a:solidFill>
                <a:latin typeface="Aptos"/>
              </a:rPr>
              <a:t>−14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92608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741"/>
                </a:solidFill>
                <a:latin typeface="Aptos"/>
              </a:rPr>
              <a:t>Extremely severe → Moderate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3739896"/>
            <a:ext cx="10835640" cy="658368"/>
          </a:xfrm>
          <a:prstGeom prst="rect">
            <a:avLst/>
          </a:prstGeom>
          <a:solidFill>
            <a:srgbClr val="F4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38862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2E48"/>
                </a:solidFill>
                <a:latin typeface="Aptos"/>
              </a:rPr>
              <a:t>Stress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38862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3741"/>
                </a:solidFill>
                <a:latin typeface="Aptos"/>
              </a:rPr>
              <a:t>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38862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3741"/>
                </a:solidFill>
                <a:latin typeface="Aptos"/>
              </a:rPr>
              <a:t>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886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08B58"/>
                </a:solidFill>
                <a:latin typeface="Aptos"/>
              </a:rPr>
              <a:t>−4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88620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741"/>
                </a:solidFill>
                <a:latin typeface="Aptos"/>
              </a:rPr>
              <a:t>Mild → Normal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1663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C8077"/>
                </a:solidFill>
                <a:latin typeface="Aptos"/>
              </a:rPr>
              <a:t>Key finding: Anxiety showed the largest reduction (−14 points).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6692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741"/>
                </a:solidFill>
                <a:latin typeface="Aptos"/>
              </a:rPr>
              <a:t>All three DASS dimensions moved in the favourable direction.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465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9737D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C2E48"/>
                </a:solidFill>
                <a:latin typeface="Aptos"/>
              </a:rPr>
              <a:t>What Changed in Mental Health Indicators?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9737D"/>
                </a:solidFill>
                <a:latin typeface="Aptos"/>
              </a:rPr>
              <a:t>Participant-level interpretation of DASS-21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10789920" cy="822960"/>
          </a:xfrm>
          <a:prstGeom prst="roundRect">
            <a:avLst/>
          </a:prstGeom>
          <a:solidFill>
            <a:srgbClr val="F4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916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2E48"/>
                </a:solidFill>
                <a:latin typeface="Aptos"/>
              </a:rPr>
              <a:t>Depression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169163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3741"/>
                </a:solidFill>
                <a:latin typeface="Aptos"/>
              </a:rPr>
              <a:t>16 →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16916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741"/>
                </a:solidFill>
                <a:latin typeface="Aptos"/>
              </a:rPr>
              <a:t>Moderate → Normal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6916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8B58"/>
                </a:solidFill>
                <a:latin typeface="Aptos"/>
              </a:rPr>
              <a:t>✓ Improved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651760"/>
            <a:ext cx="10789920" cy="822960"/>
          </a:xfrm>
          <a:prstGeom prst="roundRect">
            <a:avLst/>
          </a:prstGeom>
          <a:solidFill>
            <a:srgbClr val="F4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834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2E48"/>
                </a:solidFill>
                <a:latin typeface="Aptos"/>
              </a:rPr>
              <a:t>Anxiety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834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3741"/>
                </a:solidFill>
                <a:latin typeface="Aptos"/>
              </a:rPr>
              <a:t>28 → 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834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741"/>
                </a:solidFill>
                <a:latin typeface="Aptos"/>
              </a:rPr>
              <a:t>Extremely severe → Moderate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834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8B58"/>
                </a:solidFill>
                <a:latin typeface="Aptos"/>
              </a:rPr>
              <a:t>✓ Improved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94760"/>
            <a:ext cx="10789920" cy="822960"/>
          </a:xfrm>
          <a:prstGeom prst="roundRect">
            <a:avLst/>
          </a:prstGeom>
          <a:solidFill>
            <a:srgbClr val="F4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977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2E48"/>
                </a:solidFill>
                <a:latin typeface="Aptos"/>
              </a:rPr>
              <a:t>Stress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977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3741"/>
                </a:solidFill>
                <a:latin typeface="Aptos"/>
              </a:rPr>
              <a:t>16 →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977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741"/>
                </a:solidFill>
                <a:latin typeface="Aptos"/>
              </a:rPr>
              <a:t>Mild →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977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8B58"/>
                </a:solidFill>
                <a:latin typeface="Aptos"/>
              </a:rPr>
              <a:t>✓ Improved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166360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3741"/>
                </a:solidFill>
                <a:latin typeface="Aptos"/>
              </a:rPr>
              <a:t>The largest movement was in anxiety, which decreased by 14 points. However, the post-programme anxiety score remains in the moderate range.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465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9737D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C2E48"/>
                </a:solidFill>
                <a:latin typeface="Aptos"/>
              </a:rPr>
              <a:t>WHO-5 Wellbeing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9737D"/>
                </a:solidFill>
                <a:latin typeface="Aptos"/>
              </a:rPr>
              <a:t>Higher scores indicate better wellbeing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08760"/>
            <a:ext cx="4389120" cy="3154680"/>
          </a:xfrm>
          <a:prstGeom prst="roundRect">
            <a:avLst/>
          </a:prstGeom>
          <a:solidFill>
            <a:srgbClr val="F4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0" y="1508760"/>
            <a:ext cx="4389120" cy="3154680"/>
          </a:xfrm>
          <a:prstGeom prst="roundRect">
            <a:avLst/>
          </a:prstGeom>
          <a:solidFill>
            <a:srgbClr val="F4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25880" y="1874519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69737D"/>
                </a:solidFill>
                <a:latin typeface="Aptos"/>
              </a:rPr>
              <a:t>PRE-PROGRAMME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42316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C2E48"/>
                </a:solidFill>
                <a:latin typeface="Aptos"/>
              </a:rPr>
              <a:t>72 /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3375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D3741"/>
                </a:solidFill>
                <a:latin typeface="Aptos"/>
              </a:rPr>
              <a:t>Raw score: 18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1874519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69737D"/>
                </a:solidFill>
                <a:latin typeface="Aptos"/>
              </a:rPr>
              <a:t>POST-PROGRAMME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42316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2C8077"/>
                </a:solidFill>
                <a:latin typeface="Aptos"/>
              </a:rPr>
              <a:t>84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33375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D3741"/>
                </a:solidFill>
                <a:latin typeface="Aptos"/>
              </a:rPr>
              <a:t>Raw score: 21 / 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51663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308B58"/>
                </a:solidFill>
                <a:latin typeface="Aptos"/>
              </a:rPr>
              <a:t>+12 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66928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D3741"/>
                </a:solidFill>
                <a:latin typeface="Aptos"/>
              </a:rPr>
              <a:t>Overall wellbeing increased after the six-week programme.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601500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9737D"/>
                </a:solidFill>
                <a:latin typeface="Aptos"/>
              </a:rPr>
              <a:t>Both scores sit above the 50-point depression-screening threshold; the 12-point rise exceeds the ~10% margin considered a meaningful change.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465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9737D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C2E48"/>
                </a:solidFill>
                <a:latin typeface="Aptos"/>
              </a:rPr>
              <a:t>Overall Findings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9737D"/>
                </a:solidFill>
                <a:latin typeface="Aptos"/>
              </a:rPr>
              <a:t>A participant-level view of change from Week 0 to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8077"/>
                </a:solidFill>
                <a:latin typeface="Aptos"/>
              </a:rPr>
              <a:t>Overall finding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C2E48"/>
                </a:solidFill>
                <a:latin typeface="Aptos"/>
              </a:rPr>
              <a:t>All four measured outcomes moved in the favourable direction.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231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3741"/>
                </a:solidFill>
                <a:latin typeface="Aptos"/>
              </a:rPr>
              <a:t>Depression: 16 → 4   |   Anxiety: 28 → 14   |   Stress: 16 → 12   |   WHO-5: 72 → 84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46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8077"/>
                </a:solidFill>
                <a:latin typeface="Aptos"/>
              </a:rPr>
              <a:t>Recommendations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8077"/>
                </a:solidFill>
                <a:latin typeface="Aptos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49039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741"/>
                </a:solidFill>
                <a:latin typeface="Aptos"/>
              </a:rPr>
              <a:t>Continue engagement with wellbeing activities that may support the improvements observed.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70831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8077"/>
                </a:solidFill>
                <a:latin typeface="Aptos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370831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741"/>
                </a:solidFill>
                <a:latin typeface="Aptos"/>
              </a:rPr>
              <a:t>Place particular attention on ongoing anxiety-related support, as anxiety improved substantially but remained in the moderate range.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9262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8077"/>
                </a:solidFill>
                <a:latin typeface="Aptos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992624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741"/>
                </a:solidFill>
                <a:latin typeface="Aptos"/>
              </a:rPr>
              <a:t>Encourage continued use of appropriate workplace wellbeing resources and support systems.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806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CD912A"/>
                </a:solidFill>
                <a:latin typeface="Aptos"/>
              </a:rPr>
              <a:t>Important: These findings describe observed pre–post change for one participant; they do not establish that the programme alone caused the change.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465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9737D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466</Words>
  <Application>Microsoft Office PowerPoint</Application>
  <PresentationFormat>Widescreen</PresentationFormat>
  <Paragraphs>100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Author</cp:lastModifiedBy>
  <cp:revision>2</cp:revision>
  <dcterms:created xsi:type="dcterms:W3CDTF">2013-01-27T09:14:16Z</dcterms:created>
  <dcterms:modified xsi:type="dcterms:W3CDTF">2026-10-14T15:31:57Z</dcterms:modified>
  <cp:category/>
</cp:coreProperties>
</file>